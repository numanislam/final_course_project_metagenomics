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36"/>
  </p:notesMasterIdLst>
  <p:sldIdLst>
    <p:sldId id="268" r:id="rId3"/>
    <p:sldId id="1120" r:id="rId4"/>
    <p:sldId id="1004" r:id="rId5"/>
    <p:sldId id="281" r:id="rId6"/>
    <p:sldId id="1122" r:id="rId7"/>
    <p:sldId id="1005" r:id="rId8"/>
    <p:sldId id="1007" r:id="rId9"/>
    <p:sldId id="1006" r:id="rId10"/>
    <p:sldId id="1008" r:id="rId11"/>
    <p:sldId id="1009" r:id="rId12"/>
    <p:sldId id="1124" r:id="rId13"/>
    <p:sldId id="1125" r:id="rId14"/>
    <p:sldId id="1010" r:id="rId15"/>
    <p:sldId id="1011" r:id="rId16"/>
    <p:sldId id="1064" r:id="rId17"/>
    <p:sldId id="1012" r:id="rId18"/>
    <p:sldId id="1013" r:id="rId19"/>
    <p:sldId id="1014" r:id="rId20"/>
    <p:sldId id="1016" r:id="rId21"/>
    <p:sldId id="1017" r:id="rId22"/>
    <p:sldId id="1018" r:id="rId23"/>
    <p:sldId id="1015" r:id="rId24"/>
    <p:sldId id="1019" r:id="rId25"/>
    <p:sldId id="1025" r:id="rId26"/>
    <p:sldId id="1065" r:id="rId27"/>
    <p:sldId id="1027" r:id="rId28"/>
    <p:sldId id="1028" r:id="rId29"/>
    <p:sldId id="1067" r:id="rId30"/>
    <p:sldId id="1029" r:id="rId31"/>
    <p:sldId id="1066" r:id="rId32"/>
    <p:sldId id="1030" r:id="rId33"/>
    <p:sldId id="1032" r:id="rId34"/>
    <p:sldId id="27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20"/>
    <p:restoredTop sz="94725"/>
  </p:normalViewPr>
  <p:slideViewPr>
    <p:cSldViewPr snapToGrid="0">
      <p:cViewPr varScale="1">
        <p:scale>
          <a:sx n="109" d="100"/>
          <a:sy n="109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18993-67EE-0D41-BB2C-91B49ACACFE4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438B2-24FB-F241-B9E9-92DAC58F3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6BA93-7054-6E40-9DD2-B856B015FD1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52E69-F075-4D6C-BC3A-2D172D2C543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3430C-10B3-F947-A8EC-9980BAB4A172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14.png"/><Relationship Id="rId7" Type="http://schemas.openxmlformats.org/officeDocument/2006/relationships/tags" Target="../tags/tag7.xml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5" Type="http://schemas.openxmlformats.org/officeDocument/2006/relationships/image" Target="../media/image8.png"/><Relationship Id="rId23" Type="http://schemas.openxmlformats.org/officeDocument/2006/relationships/image" Target="../media/image16.png"/><Relationship Id="rId10" Type="http://schemas.openxmlformats.org/officeDocument/2006/relationships/notesSlide" Target="../notesSlides/notesSlide2.xml"/><Relationship Id="rId19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7.png"/><Relationship Id="rId22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hyperlink" Target="https://github.com/ablab/spades" TargetMode="External"/><Relationship Id="rId4" Type="http://schemas.openxmlformats.org/officeDocument/2006/relationships/hyperlink" Target="https://github.com/voutcn/megah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5.png"/><Relationship Id="rId5" Type="http://schemas.openxmlformats.org/officeDocument/2006/relationships/hyperlink" Target="https://github.com/bxlab/metaWRAP" TargetMode="Externa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2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6" Type="http://schemas.openxmlformats.org/officeDocument/2006/relationships/image" Target="../media/image42.png"/><Relationship Id="rId5" Type="http://schemas.openxmlformats.org/officeDocument/2006/relationships/hyperlink" Target="https://github.com/WrightonLabCSU/DRAM/wiki" TargetMode="External"/><Relationship Id="rId4" Type="http://schemas.openxmlformats.org/officeDocument/2006/relationships/hyperlink" Target="https://www.ncbi.nlm.nih.gov/pmc/articles/PMC7498326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706" y="1741234"/>
            <a:ext cx="11662587" cy="1322873"/>
          </a:xfrm>
        </p:spPr>
        <p:txBody>
          <a:bodyPr>
            <a:normAutofit/>
          </a:bodyPr>
          <a:lstStyle/>
          <a:p>
            <a:r>
              <a:rPr lang="en-US" sz="4400"/>
              <a:t>Course Project </a:t>
            </a:r>
            <a:r>
              <a:rPr lang="en-US" altLang="zh-CN" sz="4400">
                <a:ea typeface="等线 Light" panose="02010600030101010101" charset="-122"/>
              </a:rPr>
              <a:t>2</a:t>
            </a:r>
            <a:r>
              <a:rPr lang="en-US" sz="4400"/>
              <a:t>:</a:t>
            </a:r>
            <a:br>
              <a:rPr lang="en-US" sz="4400"/>
            </a:br>
            <a:r>
              <a:rPr lang="en-US" sz="4400"/>
              <a:t>Microbiome </a:t>
            </a:r>
            <a:r>
              <a:rPr lang="en-US" sz="4400">
                <a:ea typeface="等线 Light" panose="02010600030101010101" charset="-122"/>
              </a:rPr>
              <a:t>data </a:t>
            </a:r>
            <a:r>
              <a:rPr lang="en-US" altLang="zh-CN" sz="4400">
                <a:ea typeface="等线 Light" panose="02010600030101010101" charset="-122"/>
              </a:rPr>
              <a:t>analysis</a:t>
            </a:r>
            <a:r>
              <a:rPr lang="zh-CN" altLang="en-US" sz="4400">
                <a:ea typeface="等线 Light" panose="02010600030101010101" charset="-122"/>
              </a:rPr>
              <a:t> </a:t>
            </a:r>
            <a:r>
              <a:rPr lang="en-US" sz="4400"/>
              <a:t>of </a:t>
            </a:r>
            <a:r>
              <a:rPr lang="en-US" sz="4400" err="1"/>
              <a:t>Zygnema</a:t>
            </a:r>
            <a:r>
              <a:rPr lang="en-US" sz="4400"/>
              <a:t> green algae</a:t>
            </a:r>
          </a:p>
        </p:txBody>
      </p:sp>
      <p:pic>
        <p:nvPicPr>
          <p:cNvPr id="5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451" y="175538"/>
            <a:ext cx="3786949" cy="93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9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085005" y="175538"/>
            <a:ext cx="2931543" cy="9305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143234" y="6236186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PI: Yanbin Yin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962" y="5791200"/>
            <a:ext cx="3440615" cy="466348"/>
          </a:xfrm>
          <a:prstGeom prst="rect">
            <a:avLst/>
          </a:prstGeom>
        </p:spPr>
      </p:pic>
      <p:sp>
        <p:nvSpPr>
          <p:cNvPr id="3" name="Google Shape;94;p1">
            <a:extLst>
              <a:ext uri="{FF2B5EF4-FFF2-40B4-BE49-F238E27FC236}">
                <a16:creationId xmlns:a16="http://schemas.microsoft.com/office/drawing/2014/main" id="{A508FAE8-7D6B-004B-05C7-8816E355C6D8}"/>
              </a:ext>
            </a:extLst>
          </p:cNvPr>
          <p:cNvSpPr txBox="1"/>
          <p:nvPr/>
        </p:nvSpPr>
        <p:spPr>
          <a:xfrm>
            <a:off x="2401685" y="3055896"/>
            <a:ext cx="7059168" cy="26388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2800" dirty="0">
                <a:solidFill>
                  <a:schemeClr val="dk1"/>
                </a:solidFill>
                <a:sym typeface="+mn-ea"/>
              </a:rPr>
              <a:t>Dr. </a:t>
            </a:r>
            <a:r>
              <a:rPr lang="en-US" sz="2800" dirty="0" err="1">
                <a:solidFill>
                  <a:schemeClr val="dk1"/>
                </a:solidFill>
                <a:sym typeface="+mn-ea"/>
              </a:rPr>
              <a:t>Xuehuan</a:t>
            </a:r>
            <a:r>
              <a:rPr lang="en-US" sz="2800" dirty="0">
                <a:solidFill>
                  <a:schemeClr val="dk1"/>
                </a:solidFill>
                <a:sym typeface="+mn-ea"/>
              </a:rPr>
              <a:t> Feng(Postdoc)</a:t>
            </a:r>
            <a:endParaRPr lang="en-US" sz="2800" dirty="0">
              <a:solidFill>
                <a:schemeClr val="dk1"/>
              </a:solidFill>
            </a:endParaRPr>
          </a:p>
          <a:p>
            <a:pPr algn="ctr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2800" dirty="0" err="1">
                <a:solidFill>
                  <a:schemeClr val="dk1"/>
                </a:solidFill>
              </a:rPr>
              <a:t>Xinpeng</a:t>
            </a:r>
            <a:r>
              <a:rPr lang="en-US" sz="2800" dirty="0">
                <a:solidFill>
                  <a:schemeClr val="dk1"/>
                </a:solidFill>
              </a:rPr>
              <a:t> Zhang (PhD student)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2800" dirty="0">
                <a:solidFill>
                  <a:schemeClr val="dk1"/>
                </a:solidFill>
                <a:sym typeface="+mn-ea"/>
              </a:rPr>
              <a:t>Numan Islam (PhD student)</a:t>
            </a:r>
            <a:endParaRPr lang="en-US" sz="2800" dirty="0"/>
          </a:p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endParaRPr lang="en-US" sz="2800" dirty="0"/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800" dirty="0">
                <a:solidFill>
                  <a:schemeClr val="dk1"/>
                </a:solidFill>
              </a:rPr>
              <a:t>Department of Food Science and Technology</a:t>
            </a:r>
            <a:endParaRPr lang="en-US" sz="2800" dirty="0"/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altLang="zh-CN" sz="2800" dirty="0">
                <a:solidFill>
                  <a:schemeClr val="dk1"/>
                </a:solidFill>
              </a:rPr>
              <a:t>12</a:t>
            </a:r>
            <a:r>
              <a:rPr lang="en-US" sz="2800" dirty="0">
                <a:solidFill>
                  <a:schemeClr val="dk1"/>
                </a:solidFill>
              </a:rPr>
              <a:t>/02/2024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1295" y="6083300"/>
            <a:ext cx="1127125" cy="58356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750050" y="6124575"/>
            <a:ext cx="1318260" cy="42672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644005" y="5673725"/>
            <a:ext cx="1718945" cy="4508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8425" y="0"/>
            <a:ext cx="12093575" cy="965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ea typeface="等线" panose="02010600030101010101" charset="-122"/>
              </a:rPr>
              <a:t>Workflow for Microbiome Data Analysis of </a:t>
            </a:r>
            <a:r>
              <a:rPr lang="en-US" altLang="zh-CN" sz="2800" b="1" i="1" err="1">
                <a:ea typeface="等线" panose="02010600030101010101" charset="-122"/>
                <a:sym typeface="+mn-ea"/>
              </a:rPr>
              <a:t>Zygnema</a:t>
            </a:r>
            <a:r>
              <a:rPr lang="en-US" altLang="zh-CN" sz="2800" b="1" i="1"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 i="1" err="1">
                <a:ea typeface="等线" panose="02010600030101010101" charset="-122"/>
                <a:sym typeface="+mn-ea"/>
              </a:rPr>
              <a:t>circumcarinatum</a:t>
            </a:r>
            <a:r>
              <a:rPr lang="en-US" altLang="zh-CN" sz="2800" b="1" i="1">
                <a:ea typeface="等线" panose="02010600030101010101" charset="-122"/>
                <a:sym typeface="+mn-ea"/>
              </a:rPr>
              <a:t> </a:t>
            </a:r>
            <a:r>
              <a:rPr lang="en-US" altLang="zh-CN" sz="2800" b="1">
                <a:ea typeface="等线" panose="02010600030101010101" charset="-122"/>
                <a:sym typeface="+mn-ea"/>
              </a:rPr>
              <a:t>MZCH241</a:t>
            </a:r>
            <a:endParaRPr lang="en-US" altLang="zh-CN" sz="2800" b="1">
              <a:ea typeface="等线" panose="02010600030101010101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>
              <a:ea typeface="等线" panose="0201060003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425" y="2391410"/>
            <a:ext cx="2711450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  <a:sym typeface="+mn-ea"/>
              </a:rPr>
              <a:t>Data</a:t>
            </a:r>
            <a:r>
              <a:rPr lang="zh-CN" altLang="en-US" sz="2000" b="1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000" b="1">
                <a:latin typeface="Calibri" panose="020F0502020204030204" charset="0"/>
                <a:ea typeface="等线 Light" panose="02010600030101010101" charset="-122"/>
                <a:cs typeface="Calibri" panose="020F0502020204030204" charset="0"/>
                <a:sym typeface="+mn-ea"/>
              </a:rPr>
              <a:t>prepprocessing</a:t>
            </a:r>
            <a:endParaRPr lang="en-US">
              <a:ea typeface="等线 Light" panose="02010600030101010101" charset="-122"/>
            </a:endParaRPr>
          </a:p>
          <a:p>
            <a:endParaRPr lang="zh-CN" altLang="en-US"/>
          </a:p>
        </p:txBody>
      </p:sp>
      <p:grpSp>
        <p:nvGrpSpPr>
          <p:cNvPr id="17" name="组合 16" descr="7b0a202020202266696c746572223a202230220a7d0a"/>
          <p:cNvGrpSpPr/>
          <p:nvPr/>
        </p:nvGrpSpPr>
        <p:grpSpPr>
          <a:xfrm>
            <a:off x="179705" y="723900"/>
            <a:ext cx="10210165" cy="3557270"/>
            <a:chOff x="283" y="1140"/>
            <a:chExt cx="16079" cy="5602"/>
          </a:xfrm>
        </p:grpSpPr>
        <p:sp>
          <p:nvSpPr>
            <p:cNvPr id="14" name="矩形: 圆角 13"/>
            <p:cNvSpPr/>
            <p:nvPr/>
          </p:nvSpPr>
          <p:spPr>
            <a:xfrm>
              <a:off x="3848" y="1672"/>
              <a:ext cx="6782" cy="1054"/>
            </a:xfrm>
            <a:prstGeom prst="roundRect">
              <a:avLst/>
            </a:prstGeom>
            <a:solidFill>
              <a:srgbClr val="8EA604"/>
            </a:solidFill>
            <a:ln w="38100">
              <a:solidFill>
                <a:srgbClr val="F5BB00"/>
              </a:solidFill>
              <a:prstDash val="soli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MZCH241 microbiome (Algae &amp; bacteria)</a:t>
              </a:r>
            </a:p>
          </p:txBody>
        </p:sp>
        <p:cxnSp>
          <p:nvCxnSpPr>
            <p:cNvPr id="10" name="直接连接符 67"/>
            <p:cNvCxnSpPr/>
            <p:nvPr/>
          </p:nvCxnSpPr>
          <p:spPr>
            <a:xfrm>
              <a:off x="7104" y="2794"/>
              <a:ext cx="0" cy="787"/>
            </a:xfrm>
            <a:prstGeom prst="line">
              <a:avLst/>
            </a:prstGeom>
            <a:ln w="57150">
              <a:solidFill>
                <a:srgbClr val="F5BB00"/>
              </a:solidFill>
              <a:headEnd type="none" w="med" len="med"/>
              <a:tailEnd type="triangl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矩形: 圆角 13"/>
            <p:cNvSpPr/>
            <p:nvPr/>
          </p:nvSpPr>
          <p:spPr>
            <a:xfrm>
              <a:off x="3953" y="3649"/>
              <a:ext cx="6677" cy="1085"/>
            </a:xfrm>
            <a:prstGeom prst="roundRect">
              <a:avLst/>
            </a:prstGeom>
            <a:solidFill>
              <a:srgbClr val="8EA604"/>
            </a:solidFill>
            <a:ln w="38100">
              <a:solidFill>
                <a:srgbClr val="F5BB00"/>
              </a:solidFill>
              <a:prstDash val="soli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Illumina sequencing of the MZCH241</a:t>
              </a:r>
            </a:p>
            <a:p>
              <a:pPr algn="ctr"/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reads</a:t>
              </a:r>
            </a:p>
          </p:txBody>
        </p:sp>
        <p:sp>
          <p:nvSpPr>
            <p:cNvPr id="21" name="矩形: 圆角 13"/>
            <p:cNvSpPr/>
            <p:nvPr/>
          </p:nvSpPr>
          <p:spPr>
            <a:xfrm>
              <a:off x="5006" y="5606"/>
              <a:ext cx="4465" cy="1054"/>
            </a:xfrm>
            <a:prstGeom prst="roundRect">
              <a:avLst/>
            </a:prstGeom>
            <a:solidFill>
              <a:srgbClr val="8EA604"/>
            </a:solidFill>
            <a:ln w="38100">
              <a:solidFill>
                <a:srgbClr val="F5BB00"/>
              </a:solidFill>
              <a:prstDash val="soli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Bacteria fungi reads</a:t>
              </a:r>
            </a:p>
          </p:txBody>
        </p:sp>
        <p:cxnSp>
          <p:nvCxnSpPr>
            <p:cNvPr id="22" name="直接连接符 67"/>
            <p:cNvCxnSpPr/>
            <p:nvPr/>
          </p:nvCxnSpPr>
          <p:spPr>
            <a:xfrm>
              <a:off x="7104" y="4734"/>
              <a:ext cx="0" cy="787"/>
            </a:xfrm>
            <a:prstGeom prst="line">
              <a:avLst/>
            </a:prstGeom>
            <a:ln w="57150">
              <a:solidFill>
                <a:srgbClr val="F5BB00"/>
              </a:solidFill>
              <a:headEnd type="none" w="med" len="med"/>
              <a:tailEnd type="triangl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283" y="1694"/>
              <a:ext cx="3565" cy="9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000" b="1">
                  <a:latin typeface="Calibri" panose="020F0502020204030204" charset="0"/>
                  <a:ea typeface="等线 Light" panose="02010600030101010101" charset="-122"/>
                  <a:cs typeface="Calibri" panose="020F0502020204030204" charset="0"/>
                  <a:sym typeface="+mn-ea"/>
                </a:rPr>
                <a:t>Data</a:t>
              </a:r>
              <a:r>
                <a:rPr lang="zh-CN" altLang="en-US" sz="2000" b="1">
                  <a:latin typeface="Calibri" panose="020F0502020204030204" charset="0"/>
                  <a:ea typeface="等线 Light" panose="02010600030101010101" charset="-122"/>
                  <a:cs typeface="Calibri" panose="020F0502020204030204" charset="0"/>
                  <a:sym typeface="+mn-ea"/>
                </a:rPr>
                <a:t> </a:t>
              </a:r>
              <a:r>
                <a:rPr lang="en-US" altLang="zh-CN" sz="2000" b="1">
                  <a:latin typeface="Calibri" panose="020F0502020204030204" charset="0"/>
                  <a:ea typeface="等线 Light" panose="02010600030101010101" charset="-122"/>
                  <a:cs typeface="Calibri" panose="020F0502020204030204" charset="0"/>
                  <a:sym typeface="+mn-ea"/>
                </a:rPr>
                <a:t>preparation</a:t>
              </a:r>
              <a:endParaRPr lang="en-US">
                <a:ea typeface="等线 Light" panose="02010600030101010101" charset="-122"/>
              </a:endParaRPr>
            </a:p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83" y="5774"/>
              <a:ext cx="3565" cy="9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2000" b="1">
                  <a:latin typeface="Calibri" panose="020F0502020204030204" charset="0"/>
                  <a:ea typeface="等线 Light" panose="02010600030101010101" charset="-122"/>
                  <a:cs typeface="Calibri" panose="020F0502020204030204" charset="0"/>
                  <a:sym typeface="+mn-ea"/>
                </a:rPr>
                <a:t>Remove host reads</a:t>
              </a:r>
              <a:endParaRPr lang="en-US"/>
            </a:p>
          </p:txBody>
        </p:sp>
        <p:pic>
          <p:nvPicPr>
            <p:cNvPr id="35" name="图片 34"/>
            <p:cNvPicPr/>
            <p:nvPr>
              <p:custDataLst>
                <p:tags r:id="rId8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1013" y="3581"/>
              <a:ext cx="1388" cy="120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952" y="3581"/>
              <a:ext cx="3410" cy="936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128" y="1226"/>
              <a:ext cx="897" cy="143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7F7F7">
                    <a:alpha val="100000"/>
                  </a:srgbClr>
                </a:clrFrom>
                <a:clrTo>
                  <a:srgbClr val="F7F7F7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23" y="1140"/>
              <a:ext cx="1932" cy="1476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629" y="5657"/>
              <a:ext cx="1806" cy="69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3593" y="5634"/>
              <a:ext cx="2400" cy="756"/>
            </a:xfrm>
            <a:prstGeom prst="rect">
              <a:avLst/>
            </a:prstGeom>
          </p:spPr>
        </p:pic>
      </p:grpSp>
      <p:sp>
        <p:nvSpPr>
          <p:cNvPr id="8" name="矩形: 圆角 13"/>
          <p:cNvSpPr/>
          <p:nvPr/>
        </p:nvSpPr>
        <p:spPr>
          <a:xfrm>
            <a:off x="3542030" y="5081905"/>
            <a:ext cx="1938655" cy="591820"/>
          </a:xfrm>
          <a:prstGeom prst="roundRect">
            <a:avLst/>
          </a:prstGeom>
          <a:solidFill>
            <a:srgbClr val="8EA604"/>
          </a:solidFill>
          <a:ln w="38100">
            <a:solidFill>
              <a:srgbClr val="F5BB00"/>
            </a:solidFill>
            <a:prstDash val="solid"/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</a:p>
        </p:txBody>
      </p:sp>
      <p:sp>
        <p:nvSpPr>
          <p:cNvPr id="9" name="矩形: 圆角 13"/>
          <p:cNvSpPr/>
          <p:nvPr/>
        </p:nvSpPr>
        <p:spPr>
          <a:xfrm>
            <a:off x="6644005" y="5081905"/>
            <a:ext cx="1580515" cy="591820"/>
          </a:xfrm>
          <a:prstGeom prst="roundRect">
            <a:avLst/>
          </a:prstGeom>
          <a:solidFill>
            <a:srgbClr val="8EA604"/>
          </a:solidFill>
          <a:ln w="38100">
            <a:solidFill>
              <a:srgbClr val="F5BB00"/>
            </a:solidFill>
            <a:prstDash val="solid"/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Binning </a:t>
            </a:r>
          </a:p>
        </p:txBody>
      </p:sp>
      <p:sp>
        <p:nvSpPr>
          <p:cNvPr id="41" name="矩形: 圆角 13"/>
          <p:cNvSpPr/>
          <p:nvPr/>
        </p:nvSpPr>
        <p:spPr>
          <a:xfrm>
            <a:off x="9314180" y="4756785"/>
            <a:ext cx="2044700" cy="1200785"/>
          </a:xfrm>
          <a:prstGeom prst="roundRect">
            <a:avLst/>
          </a:prstGeom>
          <a:solidFill>
            <a:srgbClr val="8EA604"/>
          </a:solidFill>
          <a:ln w="38100">
            <a:solidFill>
              <a:srgbClr val="F5BB00"/>
            </a:solidFill>
            <a:prstDash val="solid"/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Taxonomy, </a:t>
            </a:r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 prediction &amp; functional annotation</a:t>
            </a:r>
          </a:p>
        </p:txBody>
      </p:sp>
      <p:cxnSp>
        <p:nvCxnSpPr>
          <p:cNvPr id="11" name="直接连接符 67"/>
          <p:cNvCxnSpPr>
            <a:endCxn id="8" idx="0"/>
          </p:cNvCxnSpPr>
          <p:nvPr/>
        </p:nvCxnSpPr>
        <p:spPr>
          <a:xfrm flipH="1">
            <a:off x="4511703" y="4228873"/>
            <a:ext cx="3810" cy="852805"/>
          </a:xfrm>
          <a:prstGeom prst="line">
            <a:avLst/>
          </a:prstGeom>
          <a:ln w="57150">
            <a:solidFill>
              <a:srgbClr val="F5BB00"/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直接连接符 67"/>
          <p:cNvCxnSpPr/>
          <p:nvPr/>
        </p:nvCxnSpPr>
        <p:spPr>
          <a:xfrm>
            <a:off x="5713758" y="5354093"/>
            <a:ext cx="544830" cy="5080"/>
          </a:xfrm>
          <a:prstGeom prst="line">
            <a:avLst/>
          </a:prstGeom>
          <a:ln w="57150">
            <a:solidFill>
              <a:srgbClr val="F5BB00"/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直接连接符 67"/>
          <p:cNvCxnSpPr/>
          <p:nvPr/>
        </p:nvCxnSpPr>
        <p:spPr>
          <a:xfrm>
            <a:off x="8546493" y="5359173"/>
            <a:ext cx="544830" cy="5080"/>
          </a:xfrm>
          <a:prstGeom prst="line">
            <a:avLst/>
          </a:prstGeom>
          <a:ln w="57150">
            <a:solidFill>
              <a:srgbClr val="F5BB00"/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264920" y="4348480"/>
            <a:ext cx="10474325" cy="2318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109470" y="4525645"/>
            <a:ext cx="1363980" cy="4419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3703320" y="5946775"/>
            <a:ext cx="506095" cy="5022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515485" y="5946140"/>
            <a:ext cx="492760" cy="50292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608945" y="6182360"/>
            <a:ext cx="7239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25000" cy="2387600"/>
          </a:xfrm>
        </p:spPr>
        <p:txBody>
          <a:bodyPr/>
          <a:lstStyle/>
          <a:p>
            <a:r>
              <a:rPr lang="en-US" altLang="zh-CN">
                <a:ea typeface="等线 Light" panose="02010600030101010101" charset="-122"/>
              </a:rPr>
              <a:t>Part</a:t>
            </a:r>
            <a:r>
              <a:rPr lang="zh-CN" altLang="en-US">
                <a:ea typeface="等线 Light" panose="02010600030101010101" charset="-122"/>
              </a:rPr>
              <a:t> III</a:t>
            </a:r>
            <a:br>
              <a:rPr lang="en-US" altLang="zh-CN"/>
            </a:br>
            <a:r>
              <a:rPr lang="en-US" altLang="zh-CN">
                <a:ea typeface="等线 Light" panose="02010600030101010101" charset="-122"/>
              </a:rPr>
              <a:t>Assembly</a:t>
            </a:r>
            <a:r>
              <a:rPr lang="en-US" altLang="zh-CN">
                <a:ea typeface="等线 Light" panose="02010600030101010101" charset="-122"/>
                <a:cs typeface="+mj-lt"/>
              </a:rPr>
              <a:t> </a:t>
            </a:r>
            <a:r>
              <a:rPr lang="en-US" altLang="zh-CN">
                <a:ea typeface="+mj-lt"/>
                <a:cs typeface="+mj-lt"/>
              </a:rPr>
              <a:t> (~ 8hrs)</a:t>
            </a:r>
            <a:endParaRPr lang="en-US">
              <a:ea typeface="等线 Light" panose="0201060003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6235" y="607695"/>
            <a:ext cx="11312525" cy="15379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等线" panose="02010600030101010101" charset="-122"/>
              </a:rPr>
              <a:t>We will use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cleaned and de-contaminated </a:t>
            </a:r>
            <a:r>
              <a:rPr kumimoji="1" lang="en-US" altLang="zh-CN" sz="2400" dirty="0">
                <a:ea typeface="等线" panose="02010600030101010101" charset="-122"/>
              </a:rPr>
              <a:t>microbiome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reads</a:t>
            </a:r>
            <a:r>
              <a:rPr kumimoji="1" lang="en-US" altLang="zh-CN" sz="2400" dirty="0">
                <a:ea typeface="等线" panose="02010600030101010101" charset="-122"/>
              </a:rPr>
              <a:t> to re-construct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the complete genomes</a:t>
            </a:r>
            <a:r>
              <a:rPr kumimoji="1" lang="en-US" altLang="zh-CN" sz="2400" dirty="0">
                <a:ea typeface="等线" panose="02010600030101010101" charset="-122"/>
              </a:rPr>
              <a:t>.</a:t>
            </a:r>
            <a:endParaRPr lang="en-US" altLang="zh-CN" sz="2400" b="0" i="0" dirty="0">
              <a:solidFill>
                <a:srgbClr val="000000"/>
              </a:solidFill>
              <a:effectLst/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FF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</p:txBody>
      </p:sp>
      <p:pic>
        <p:nvPicPr>
          <p:cNvPr id="2" name="图片 1" descr="图示, 日程表&#10;&#10;已自动生成说明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30" y="1551305"/>
            <a:ext cx="6631940" cy="37547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12230" y="1158875"/>
            <a:ext cx="5447030" cy="4895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FF0000"/>
                </a:solidFill>
              </a:rPr>
              <a:t>Genome</a:t>
            </a:r>
            <a:r>
              <a:rPr lang="en-US" altLang="zh-CN" sz="2000" b="1"/>
              <a:t> (Top Panel):</a:t>
            </a:r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zh-CN" sz="2000"/>
              <a:t>Represents the original genome as a continuous sequence (colored in blocks, each block representing a different part of the genome).</a:t>
            </a:r>
          </a:p>
          <a:p>
            <a:endParaRPr lang="en-US" altLang="zh-CN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Sequencing (Middle Panel):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 genome is fragmented into smaller pieces during the sequencing process, producing</a:t>
            </a:r>
            <a:r>
              <a:rPr lang="en-US" altLang="zh-CN" sz="2000" b="1">
                <a:solidFill>
                  <a:srgbClr val="FF0000"/>
                </a:solidFill>
              </a:rPr>
              <a:t> reads.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These reads are short sequences of DNA (or RNA) generated by high-throughput sequencing technologies.</a:t>
            </a:r>
          </a:p>
          <a:p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Note that these </a:t>
            </a:r>
            <a:r>
              <a:rPr lang="en-US" altLang="zh-CN" sz="2000" b="1"/>
              <a:t>reads overlap to some extent</a:t>
            </a:r>
            <a:r>
              <a:rPr lang="en-US" altLang="zh-CN" sz="2000"/>
              <a:t>, which is essential for the next step.</a:t>
            </a:r>
          </a:p>
          <a:p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356235" y="5634990"/>
            <a:ext cx="64115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/>
              <a:t>https://www.youtube.com/watch?app=desktop&amp;v=V2xIGdEkA5U&amp;t=985s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6235" y="85725"/>
            <a:ext cx="116446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3.1 - Genome Reconstruction Workflow: From Sequencing Reads to Assembly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50805" y="778991"/>
            <a:ext cx="11645463" cy="15379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等线" panose="02010600030101010101" charset="-122"/>
              </a:rPr>
              <a:t>We will use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cleaned and de-contaminated </a:t>
            </a:r>
            <a:r>
              <a:rPr kumimoji="1" lang="en-US" altLang="zh-CN" sz="2400" dirty="0">
                <a:ea typeface="等线" panose="02010600030101010101" charset="-122"/>
              </a:rPr>
              <a:t>microbiome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reads</a:t>
            </a:r>
            <a:r>
              <a:rPr kumimoji="1" lang="en-US" altLang="zh-CN" sz="2400" dirty="0">
                <a:ea typeface="等线" panose="02010600030101010101" charset="-122"/>
              </a:rPr>
              <a:t> to re-construct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the complete genomes</a:t>
            </a:r>
            <a:r>
              <a:rPr kumimoji="1" lang="en-US" altLang="zh-CN" sz="2400" dirty="0">
                <a:ea typeface="等线" panose="02010600030101010101" charset="-122"/>
              </a:rPr>
              <a:t>.</a:t>
            </a:r>
            <a:endParaRPr lang="en-US" altLang="zh-CN" sz="2400" b="0" i="0" dirty="0">
              <a:solidFill>
                <a:srgbClr val="000000"/>
              </a:solidFill>
              <a:effectLst/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FF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</p:txBody>
      </p:sp>
      <p:pic>
        <p:nvPicPr>
          <p:cNvPr id="2" name="图片 1" descr="图示, 日程表&#10;&#10;已自动生成说明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6380" y="1738630"/>
            <a:ext cx="6631940" cy="37547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83350" y="1445895"/>
            <a:ext cx="5388610" cy="4895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Assembly (Bottom Panel):</a:t>
            </a:r>
          </a:p>
          <a:p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Reads are computationally aligned and stitched together based on their overlapping regions to reconstruct the original genome.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 assembly process involves algorithms (e.g., De Bruijn graphs) to find the most accurate way to reassemble the genome.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 goal is to produce a contiguous sequence that closely resembles the original genome. The final output is called </a:t>
            </a:r>
            <a:r>
              <a:rPr lang="en-US" altLang="zh-CN" sz="2000" b="1"/>
              <a:t>contigs </a:t>
            </a:r>
            <a:r>
              <a:rPr lang="en-US" altLang="zh-CN" sz="2000"/>
              <a:t>or </a:t>
            </a:r>
            <a:r>
              <a:rPr lang="en-US" altLang="zh-CN" sz="2000" b="1"/>
              <a:t>scaffolds</a:t>
            </a:r>
            <a:r>
              <a:rPr lang="en-US" altLang="zh-CN" sz="2000"/>
              <a:t>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6235" y="5634990"/>
            <a:ext cx="64115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/>
              <a:t>https://www.youtube.com/watch?app=desktop&amp;v=V2xIGdEkA5U&amp;t=985s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6235" y="85725"/>
            <a:ext cx="116446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3.1 - Genome Reconstruction Workflow: From Sequencing Reads to Assembly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4168" y="1316309"/>
            <a:ext cx="11645463" cy="35693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等线" panose="02010600030101010101" charset="-122"/>
              </a:rPr>
              <a:t>We will try 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two different programs</a:t>
            </a:r>
            <a:r>
              <a:rPr kumimoji="1" lang="en-US" altLang="zh-CN" sz="2400" dirty="0">
                <a:ea typeface="等线" panose="02010600030101010101" charset="-122"/>
              </a:rPr>
              <a:t> to make contigs separately</a:t>
            </a:r>
            <a:endParaRPr lang="en-US" altLang="zh-CN" sz="2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"Megahit": 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https://github.com/voutcn/megahit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altLang="zh-CN" sz="2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"</a:t>
            </a:r>
            <a:r>
              <a:rPr lang="en-US" altLang="zh-CN" sz="2400" dirty="0" err="1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MetaSPAdes</a:t>
            </a:r>
            <a:r>
              <a:rPr lang="en-US" altLang="zh-CN" sz="2400" dirty="0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  <a:cs typeface="Calibri" panose="020F0502020204030204"/>
              </a:rPr>
              <a:t>": 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https://github.com/ablab/spades</a:t>
            </a:r>
            <a:endParaRPr lang="en-US" altLang="zh-CN" sz="2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They are developed by similar algorithms </a:t>
            </a:r>
            <a:r>
              <a:rPr lang="en-US" sz="2400" dirty="0">
                <a:latin typeface="Calibri" panose="020F0502020204030204"/>
                <a:ea typeface="Calibri" panose="020F0502020204030204"/>
                <a:cs typeface="Calibri" panose="020F0502020204030204"/>
              </a:rPr>
              <a:t>using</a:t>
            </a:r>
            <a:r>
              <a:rPr lang="en-US" sz="2400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de </a:t>
            </a:r>
            <a:r>
              <a:rPr lang="en-US" sz="2400" dirty="0" err="1">
                <a:solidFill>
                  <a:srgbClr val="FF0000"/>
                </a:solidFill>
                <a:ea typeface="+mn-lt"/>
                <a:cs typeface="+mn-lt"/>
              </a:rPr>
              <a:t>bruijn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 graph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9" y="4374929"/>
            <a:ext cx="6751557" cy="14539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969641" y="3800570"/>
            <a:ext cx="5071217" cy="213644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010" y="142875"/>
            <a:ext cx="119405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3.2 - Comparing Megahit and MetaSPAdes: Assembly Tools Using De Bruijn Graphs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004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700" b="1" dirty="0"/>
              <a:t>3.2 - Comparing Megahit and </a:t>
            </a:r>
            <a:r>
              <a:rPr lang="en-US" altLang="zh-CN" sz="2700" b="1" dirty="0" err="1"/>
              <a:t>MetaSPAdes</a:t>
            </a:r>
            <a:r>
              <a:rPr lang="en-US" altLang="zh-CN" sz="2700" b="1" dirty="0"/>
              <a:t>: Assembly Tools Using De Bruijn Graphs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6F0591-29E8-4811-B525-D0CD7B21B72E}"/>
              </a:ext>
            </a:extLst>
          </p:cNvPr>
          <p:cNvGrpSpPr/>
          <p:nvPr/>
        </p:nvGrpSpPr>
        <p:grpSpPr>
          <a:xfrm>
            <a:off x="450824" y="785964"/>
            <a:ext cx="11102781" cy="2754405"/>
            <a:chOff x="544608" y="1008702"/>
            <a:chExt cx="11102781" cy="2754405"/>
          </a:xfrm>
        </p:grpSpPr>
        <p:pic>
          <p:nvPicPr>
            <p:cNvPr id="13" name="Picture 12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EDD7B4E0-415A-B7DE-DCE6-8C54A4229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608" y="1008702"/>
              <a:ext cx="11102781" cy="275440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91C90E-FF4A-22D7-534C-D3DAFC80151C}"/>
                </a:ext>
              </a:extLst>
            </p:cNvPr>
            <p:cNvSpPr/>
            <p:nvPr/>
          </p:nvSpPr>
          <p:spPr>
            <a:xfrm>
              <a:off x="544608" y="3300047"/>
              <a:ext cx="11102781" cy="4396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451B26-DB60-AC06-DF01-C5CE6DAF961F}"/>
              </a:ext>
            </a:extLst>
          </p:cNvPr>
          <p:cNvGrpSpPr/>
          <p:nvPr/>
        </p:nvGrpSpPr>
        <p:grpSpPr>
          <a:xfrm>
            <a:off x="450824" y="3892062"/>
            <a:ext cx="11102783" cy="2555631"/>
            <a:chOff x="544607" y="4032738"/>
            <a:chExt cx="11102783" cy="2555631"/>
          </a:xfrm>
        </p:grpSpPr>
        <p:pic>
          <p:nvPicPr>
            <p:cNvPr id="11" name="Picture 10" descr="A computer screen with white text&#10;&#10;AI-generated content may be incorrect.">
              <a:extLst>
                <a:ext uri="{FF2B5EF4-FFF2-40B4-BE49-F238E27FC236}">
                  <a16:creationId xmlns:a16="http://schemas.microsoft.com/office/drawing/2014/main" id="{7436C3EC-5836-F44E-3C31-82F281B2F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609" y="4032738"/>
              <a:ext cx="11102781" cy="2555631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3297E8-27D2-9B1E-4C01-791AD575983E}"/>
                </a:ext>
              </a:extLst>
            </p:cNvPr>
            <p:cNvSpPr/>
            <p:nvPr/>
          </p:nvSpPr>
          <p:spPr>
            <a:xfrm>
              <a:off x="544607" y="6113585"/>
              <a:ext cx="11102781" cy="4396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92760" y="1200150"/>
            <a:ext cx="11205845" cy="48298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ea typeface="等线" panose="02010600030101010101" charset="-122"/>
              </a:rPr>
              <a:t>From the MEGAHIT, you will get the final result: </a:t>
            </a:r>
            <a:r>
              <a:rPr kumimoji="1" lang="en-US" sz="2800" dirty="0" err="1">
                <a:solidFill>
                  <a:srgbClr val="FF0000"/>
                </a:solidFill>
                <a:ea typeface="+mn-lt"/>
                <a:cs typeface="+mn-lt"/>
              </a:rPr>
              <a:t>final.contigs.fa</a:t>
            </a: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From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MetaSPAde</a:t>
            </a:r>
            <a:r>
              <a:rPr lang="en-US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you will get the final result: </a:t>
            </a:r>
            <a:r>
              <a:rPr lang="en-US" sz="2800" dirty="0" err="1">
                <a:solidFill>
                  <a:srgbClr val="FF0000"/>
                </a:solidFill>
                <a:ea typeface="+mn-lt"/>
                <a:cs typeface="+mn-lt"/>
              </a:rPr>
              <a:t>contigs.fasta</a:t>
            </a:r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.</a:t>
            </a: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Those are the </a:t>
            </a:r>
            <a:r>
              <a:rPr lang="en-US" sz="2800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results </a:t>
            </a:r>
            <a:r>
              <a:rPr lang="en-US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we'll use in the next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 your report, mention the contig count and length (</a:t>
            </a:r>
            <a:r>
              <a:rPr lang="en-US" sz="2800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could find in the err/out files</a:t>
            </a:r>
            <a:r>
              <a:rPr lang="en-US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this project, we recommend to use megahit result for the all the following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  <a:p>
            <a:endParaRPr lang="en-US" altLang="zh-CN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ourier New" panose="020703090202050204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4010" y="179705"/>
            <a:ext cx="119405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3.2 - Comparing Megahit and MetaSPAdes: Assembly Tools Using De Bruijn Graphs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ea typeface="等线 Light" panose="02010600030101010101" charset="-122"/>
              </a:rPr>
              <a:t>Part</a:t>
            </a:r>
            <a:r>
              <a:rPr lang="zh-CN" altLang="en-US">
                <a:ea typeface="等线 Light" panose="02010600030101010101" charset="-122"/>
              </a:rPr>
              <a:t> </a:t>
            </a:r>
            <a:r>
              <a:rPr lang="en-US" altLang="zh-CN">
                <a:ea typeface="等线 Light" panose="02010600030101010101" charset="-122"/>
              </a:rPr>
              <a:t>IV</a:t>
            </a:r>
            <a:br>
              <a:rPr lang="en-US" altLang="zh-CN"/>
            </a:br>
            <a:r>
              <a:rPr lang="en-US" altLang="zh-CN">
                <a:ea typeface="等线 Light" panose="02010600030101010101" charset="-122"/>
              </a:rPr>
              <a:t>Binning and bin refinement</a:t>
            </a:r>
            <a:br>
              <a:rPr lang="en-US" altLang="zh-CN">
                <a:ea typeface="等线 Light" panose="02010600030101010101" charset="-122"/>
              </a:rPr>
            </a:br>
            <a:r>
              <a:rPr lang="en-US" altLang="zh-CN">
                <a:ea typeface="等线 Light" panose="02010600030101010101" charset="-122"/>
                <a:cs typeface="Calibri Light" panose="020F0302020204030204"/>
              </a:rPr>
              <a:t>(~ 2.5hrs)</a:t>
            </a:r>
            <a:endParaRPr lang="en-US">
              <a:ea typeface="等线 Light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b="701"/>
          <a:stretch>
            <a:fillRect/>
          </a:stretch>
        </p:blipFill>
        <p:spPr>
          <a:xfrm>
            <a:off x="802640" y="868680"/>
            <a:ext cx="3922395" cy="56622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49950" y="61328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/>
              <a:t>https://carpentries-lab.github.io/metagenomics-analysis/05-binning/index.html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664835" y="802005"/>
            <a:ext cx="617982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Original Genomes in the Sample:</a:t>
            </a:r>
          </a:p>
          <a:p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Metagenomic samples contain DNA from multiple microbial species, which are mixed together.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To study individual species, these genomes must </a:t>
            </a:r>
            <a:r>
              <a:rPr lang="en-US" altLang="zh-CN" sz="2000" b="1"/>
              <a:t>be separated and analyzed independently</a:t>
            </a:r>
            <a:r>
              <a:rPr lang="en-US" altLang="zh-CN" sz="2000"/>
              <a:t>.</a:t>
            </a:r>
          </a:p>
          <a:p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Binning Process:</a:t>
            </a:r>
          </a:p>
          <a:p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tx1"/>
                </a:solidFill>
              </a:rPr>
              <a:t>Definition: </a:t>
            </a:r>
            <a:r>
              <a:rPr lang="en-US" altLang="zh-CN" sz="2000" b="1">
                <a:solidFill>
                  <a:srgbClr val="FF0000"/>
                </a:solidFill>
              </a:rPr>
              <a:t>Binning is the process of assigning assembled contigs (longer DNA fragments reconstructed from short reads) into separate groups or "bins."</a:t>
            </a: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Purpose: </a:t>
            </a:r>
            <a:r>
              <a:rPr lang="en-US" altLang="zh-CN" sz="2000"/>
              <a:t>Each bin ideally represents one genome, allowing separate analysis of species within the metagenome.</a:t>
            </a:r>
          </a:p>
          <a:p>
            <a:endParaRPr lang="en-US" altLang="zh-CN" sz="2000"/>
          </a:p>
        </p:txBody>
      </p:sp>
      <p:sp>
        <p:nvSpPr>
          <p:cNvPr id="13" name="文本框 12"/>
          <p:cNvSpPr txBox="1"/>
          <p:nvPr/>
        </p:nvSpPr>
        <p:spPr>
          <a:xfrm>
            <a:off x="419100" y="140970"/>
            <a:ext cx="115030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4.1 - Binning in Metagenomics: From Sequencing to Genome Reconstruction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5495925" y="955675"/>
            <a:ext cx="605536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Reconstruction of Genomes:</a:t>
            </a:r>
          </a:p>
          <a:p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After binning, the contigs grouped into each bin can be used to reconstruct microbial genomes.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These reconstructed genomes are called </a:t>
            </a:r>
            <a:r>
              <a:rPr lang="en-US" altLang="zh-CN" sz="2000" b="1">
                <a:solidFill>
                  <a:srgbClr val="FF0000"/>
                </a:solidFill>
              </a:rPr>
              <a:t>Metagenome-Assembled Genomes (MAGs)</a:t>
            </a:r>
            <a:r>
              <a:rPr lang="en-US" altLang="zh-CN" sz="2000"/>
              <a:t>.</a:t>
            </a:r>
          </a:p>
          <a:p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Binning Output:</a:t>
            </a:r>
          </a:p>
          <a:p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Bins are typically saved as separate FASTA files, each containing the contigs assigned to a single bin.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/>
              <a:t>Ideally, </a:t>
            </a:r>
            <a:r>
              <a:rPr lang="en-US" altLang="zh-CN" sz="2000">
                <a:solidFill>
                  <a:srgbClr val="FF0000"/>
                </a:solidFill>
              </a:rPr>
              <a:t>each FASTA file corresponds to one genome (a MAG)</a:t>
            </a:r>
            <a:r>
              <a:rPr lang="en-US" altLang="zh-CN" sz="2000"/>
              <a:t>, representing one species or strain from the original metagenome.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b="701"/>
          <a:stretch>
            <a:fillRect/>
          </a:stretch>
        </p:blipFill>
        <p:spPr>
          <a:xfrm>
            <a:off x="724535" y="840740"/>
            <a:ext cx="3881755" cy="56045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49950" y="61328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/>
              <a:t>https://carpentries-lab.github.io/metagenomics-analysis/05-binning/index.html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9100" y="140970"/>
            <a:ext cx="115030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4.1 - Binning in Metagenomics: From Sequencing to Genome Reconstruction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6900" y="796925"/>
            <a:ext cx="8415655" cy="52800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3395" y="6120765"/>
            <a:ext cx="111620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/>
              <a:t>https://www.researchgate.net/publication/281541332_MetaBAT_an_efficient_tool_for_accurately_reconstructing_single_genomes_from_complex_microbial_communities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6900" y="562928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algn="l">
              <a:buClrTx/>
              <a:buSzTx/>
              <a:buFontTx/>
            </a:pPr>
            <a:r>
              <a:rPr lang="en-US" altLang="zh-CN" sz="1800" b="0" i="0"/>
              <a:t>Overview of the MetaBATpipeline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9100" y="41275"/>
            <a:ext cx="115030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4.1 - Binning in Metagenomics: From Sequencing to Genome Reconstruction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9090" y="1833245"/>
            <a:ext cx="7935595" cy="4219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4891" y="1034261"/>
            <a:ext cx="11645463" cy="11372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ea typeface="等线" panose="02010600030101010101" charset="-122"/>
              </a:rPr>
              <a:t>We'll use "</a:t>
            </a:r>
            <a:r>
              <a:rPr kumimoji="1" lang="en-US" altLang="zh-CN" sz="2000" dirty="0" err="1">
                <a:solidFill>
                  <a:srgbClr val="FF0000"/>
                </a:solidFill>
                <a:ea typeface="等线" panose="02010600030101010101" charset="-122"/>
              </a:rPr>
              <a:t>MetaWRAP</a:t>
            </a:r>
            <a:r>
              <a:rPr kumimoji="1" lang="en-US" altLang="zh-CN" sz="2000" dirty="0">
                <a:ea typeface="等线" panose="02010600030101010101" charset="-122"/>
              </a:rPr>
              <a:t>", which contains three different methods</a:t>
            </a:r>
            <a:r>
              <a:rPr kumimoji="1" lang="en-US" altLang="zh-CN" sz="2800" dirty="0">
                <a:ea typeface="等线" panose="02010600030101010101" charset="-122"/>
              </a:rPr>
              <a:t>.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https://github.com/bxlab/metaWRA</a:t>
            </a:r>
            <a:r>
              <a:rPr lang="en-US" altLang="zh-CN" sz="2000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P</a:t>
            </a:r>
            <a:endParaRPr lang="en-US" altLang="zh-CN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4960" y="2019935"/>
            <a:ext cx="393128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/>
              <a:buChar char="•"/>
            </a:pPr>
            <a:r>
              <a:rPr lang="en-US" sz="2000" dirty="0" err="1">
                <a:ea typeface="等线" panose="02010600030101010101" charset="-122"/>
                <a:cs typeface="+mn-lt"/>
                <a:sym typeface="+mn-ea"/>
              </a:rPr>
              <a:t>MetaWRAP</a:t>
            </a:r>
            <a:r>
              <a:rPr lang="en-US" sz="2000" dirty="0">
                <a:ea typeface="等线" panose="02010600030101010101" charset="-122"/>
                <a:cs typeface="+mn-lt"/>
                <a:sym typeface="+mn-ea"/>
              </a:rPr>
              <a:t> is a</a:t>
            </a:r>
            <a:r>
              <a:rPr kumimoji="1" lang="en-US" sz="2000" dirty="0">
                <a:ea typeface="等线" panose="02010600030101010101" charset="-122"/>
                <a:cs typeface="+mn-lt"/>
                <a:sym typeface="+mn-ea"/>
              </a:rPr>
              <a:t> flexible pipeline for genome-resolved metagenomic data analysis. It could finish the metagenomic analysis</a:t>
            </a:r>
            <a:r>
              <a:rPr kumimoji="1" 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 from start to the end</a:t>
            </a:r>
            <a:r>
              <a:rPr kumimoji="1" lang="en-US" sz="2000" dirty="0">
                <a:ea typeface="等线" panose="02010600030101010101" charset="-122"/>
                <a:cs typeface="+mn-lt"/>
                <a:sym typeface="+mn-ea"/>
              </a:rPr>
              <a:t>: </a:t>
            </a:r>
            <a:r>
              <a:rPr kumimoji="1" 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read quality control, assembly, visualization, taxonomic profiling, extracting draft genomes (binning), and functional annotation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(because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it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includes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different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tools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as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packages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such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as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 err="1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FastQC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we</a:t>
            </a:r>
            <a:r>
              <a:rPr kumimoji="1" lang="zh-CN" altLang="en-US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used)</a:t>
            </a:r>
            <a:r>
              <a:rPr kumimoji="1" lang="en-US" sz="2000" dirty="0">
                <a:ea typeface="等线" panose="02010600030101010101" charset="-122"/>
                <a:cs typeface="+mn-lt"/>
                <a:sym typeface="+mn-ea"/>
              </a:rPr>
              <a:t>.</a:t>
            </a:r>
            <a:endParaRPr lang="en-US" sz="2000" dirty="0">
              <a:ea typeface="等线" panose="02010600030101010101" charset="-122"/>
              <a:cs typeface="+mn-lt"/>
            </a:endParaRPr>
          </a:p>
          <a:p>
            <a:pPr marL="457200" indent="-457200">
              <a:buFont typeface="Arial" panose="020B0604020202020204"/>
              <a:buChar char="•"/>
            </a:pPr>
            <a:endParaRPr lang="en-US" altLang="en-US" sz="2000" dirty="0">
              <a:ea typeface="等线" panose="02010600030101010101" charset="-122"/>
              <a:cs typeface="+mn-lt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9420" y="6176645"/>
            <a:ext cx="11017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/>
              <a:buChar char="•"/>
            </a:pPr>
            <a:r>
              <a:rPr lang="en-US" dirty="0">
                <a:ea typeface="等线" panose="02010600030101010101" charset="-122"/>
                <a:cs typeface="+mn-lt"/>
                <a:sym typeface="+mn-ea"/>
              </a:rPr>
              <a:t>In the future you could use it for your own research, here we'll only use the </a:t>
            </a:r>
            <a:r>
              <a:rPr lang="en-US" sz="2000" b="1" dirty="0">
                <a:ea typeface="等线" panose="02010600030101010101" charset="-122"/>
                <a:cs typeface="+mn-lt"/>
                <a:sym typeface="+mn-ea"/>
              </a:rPr>
              <a:t>binning part</a:t>
            </a:r>
            <a:r>
              <a:rPr lang="en-US" dirty="0">
                <a:ea typeface="等线" panose="02010600030101010101" charset="-122"/>
                <a:cs typeface="+mn-lt"/>
                <a:sym typeface="+mn-ea"/>
              </a:rPr>
              <a:t>.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28255" y="612775"/>
            <a:ext cx="4316730" cy="13563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9420" y="81280"/>
            <a:ext cx="1009269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4.2 - MetaWRAP: A Comprehensive Pipeline for Genome-Resolved Metagenomic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39638" y="962773"/>
            <a:ext cx="11645463" cy="23069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altLang="zh-CN" sz="2400" dirty="0">
                <a:ea typeface="等线" panose="02010600030101010101" charset="-122"/>
                <a:cs typeface="Calibri" panose="020F0502020204030204"/>
              </a:rPr>
              <a:t>In the binning part, it includes three different program: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sz="2400" dirty="0">
              <a:cs typeface="Calibri" panose="020F0502020204030204"/>
            </a:endParaRPr>
          </a:p>
          <a:p>
            <a:r>
              <a:rPr lang="en-US" sz="2400" b="1" dirty="0">
                <a:ea typeface="等线" panose="02010600030101010101" charset="-122"/>
                <a:cs typeface="Calibri" panose="020F0502020204030204"/>
              </a:rPr>
              <a:t>MetaBAT2</a:t>
            </a:r>
            <a:r>
              <a:rPr lang="en-US" sz="2400" dirty="0">
                <a:ea typeface="等线" panose="02010600030101010101" charset="-122"/>
                <a:cs typeface="Calibri" panose="020F0502020204030204"/>
              </a:rPr>
              <a:t>: </a:t>
            </a:r>
            <a:r>
              <a:rPr lang="en-US" sz="2400" dirty="0">
                <a:ea typeface="+mn-lt"/>
                <a:cs typeface="+mn-lt"/>
              </a:rPr>
              <a:t>https://</a:t>
            </a:r>
            <a:r>
              <a:rPr lang="en-US" sz="2400" dirty="0" err="1">
                <a:ea typeface="+mn-lt"/>
                <a:cs typeface="+mn-lt"/>
              </a:rPr>
              <a:t>bitbucket.org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berkeleylab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metabat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src</a:t>
            </a:r>
            <a:r>
              <a:rPr lang="en-US" sz="2400" dirty="0">
                <a:ea typeface="+mn-lt"/>
                <a:cs typeface="+mn-lt"/>
              </a:rPr>
              <a:t>/master/</a:t>
            </a:r>
            <a:endParaRPr lang="en-US" altLang="zh-CN" sz="2400" dirty="0">
              <a:ea typeface="等线" panose="02010600030101010101" charset="-122"/>
              <a:cs typeface="Calibri" panose="020F0502020204030204"/>
            </a:endParaRPr>
          </a:p>
          <a:p>
            <a:r>
              <a:rPr lang="en-US" sz="2400" b="1" dirty="0">
                <a:ea typeface="等线" panose="02010600030101010101" charset="-122"/>
                <a:cs typeface="Calibri" panose="020F0502020204030204"/>
              </a:rPr>
              <a:t>CONCOCT</a:t>
            </a:r>
            <a:r>
              <a:rPr lang="en-US" sz="2400" dirty="0">
                <a:ea typeface="等线" panose="02010600030101010101" charset="-122"/>
                <a:cs typeface="Calibri" panose="020F0502020204030204"/>
              </a:rPr>
              <a:t>: </a:t>
            </a:r>
            <a:r>
              <a:rPr lang="en-US" sz="2400" dirty="0">
                <a:ea typeface="+mn-lt"/>
                <a:cs typeface="+mn-lt"/>
              </a:rPr>
              <a:t>https://</a:t>
            </a:r>
            <a:r>
              <a:rPr lang="en-US" sz="2400" dirty="0" err="1">
                <a:ea typeface="+mn-lt"/>
                <a:cs typeface="+mn-lt"/>
              </a:rPr>
              <a:t>github.com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BinPro</a:t>
            </a:r>
            <a:r>
              <a:rPr lang="en-US" sz="2400" dirty="0">
                <a:ea typeface="+mn-lt"/>
                <a:cs typeface="+mn-lt"/>
              </a:rPr>
              <a:t>/CONCOCT</a:t>
            </a:r>
            <a:endParaRPr lang="en-US" altLang="zh-CN" sz="2400" dirty="0">
              <a:ea typeface="等线" panose="02010600030101010101" charset="-122"/>
              <a:cs typeface="Calibri" panose="020F0502020204030204"/>
            </a:endParaRPr>
          </a:p>
          <a:p>
            <a:r>
              <a:rPr lang="en-US" sz="2400" b="1" dirty="0">
                <a:ea typeface="等线" panose="02010600030101010101" charset="-122"/>
                <a:cs typeface="Calibri" panose="020F0502020204030204"/>
              </a:rPr>
              <a:t>MaxBin2</a:t>
            </a:r>
            <a:r>
              <a:rPr lang="en-US" sz="2400" dirty="0">
                <a:ea typeface="等线" panose="02010600030101010101" charset="-122"/>
                <a:cs typeface="Calibri" panose="020F0502020204030204"/>
              </a:rPr>
              <a:t>: </a:t>
            </a:r>
            <a:r>
              <a:rPr lang="en-US" sz="2400" dirty="0">
                <a:ea typeface="+mn-lt"/>
                <a:cs typeface="+mn-lt"/>
              </a:rPr>
              <a:t>https://</a:t>
            </a:r>
            <a:r>
              <a:rPr lang="en-US" sz="2400" dirty="0" err="1">
                <a:ea typeface="+mn-lt"/>
                <a:cs typeface="+mn-lt"/>
              </a:rPr>
              <a:t>github.com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assemblerflow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flowcraft</a:t>
            </a:r>
            <a:r>
              <a:rPr lang="en-US" sz="2400" dirty="0">
                <a:ea typeface="+mn-lt"/>
                <a:cs typeface="+mn-lt"/>
              </a:rPr>
              <a:t>/blob/master/docs/user/components/maxbin2.rst</a:t>
            </a:r>
            <a:endParaRPr lang="en-US" altLang="zh-CN" sz="2400" dirty="0">
              <a:ea typeface="+mn-lt"/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4693" y="3269940"/>
            <a:ext cx="5605383" cy="18248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68211" y="3322010"/>
            <a:ext cx="5917119" cy="16306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537958" y="5006504"/>
            <a:ext cx="5367470" cy="172864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9420" y="81280"/>
            <a:ext cx="1009269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4.2 - MetaWRAP: A Comprehensive Pipeline for Genome-Resolved Metagenomic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35639" y="1034634"/>
            <a:ext cx="11645463" cy="26765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/>
              <a:buChar char="•"/>
            </a:pPr>
            <a:endParaRPr lang="en-US" sz="2800" dirty="0">
              <a:ea typeface="等线" panose="02010600030101010101" charset="-122"/>
              <a:cs typeface="Calibri" panose="020F0502020204030204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2800" dirty="0">
                <a:ea typeface="等线" panose="02010600030101010101" charset="-122"/>
                <a:cs typeface="Calibri" panose="020F0502020204030204"/>
              </a:rPr>
              <a:t>In your report, you could discuss the difference among three programs.</a:t>
            </a:r>
          </a:p>
          <a:p>
            <a:pPr marL="457200" indent="-457200">
              <a:buFont typeface="Arial" panose="020B0604020202020204"/>
              <a:buChar char="•"/>
            </a:pPr>
            <a:endParaRPr lang="en-US" sz="2800" dirty="0">
              <a:ea typeface="等线" panose="02010600030101010101" charset="-122"/>
              <a:cs typeface="Calibri" panose="020F0502020204030204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2800" dirty="0" err="1">
                <a:ea typeface="等线" panose="02010600030101010101" charset="-122"/>
                <a:cs typeface="Calibri" panose="020F0502020204030204"/>
              </a:rPr>
              <a:t>MetaWRAP</a:t>
            </a:r>
            <a:r>
              <a:rPr lang="en-US" sz="2800" dirty="0">
                <a:ea typeface="等线" panose="02010600030101010101" charset="-122"/>
                <a:cs typeface="Calibri" panose="020F0502020204030204"/>
              </a:rPr>
              <a:t> will combine those three results, give the combinations, for example, A&amp;B, A&amp;C, B&amp;C, A&amp;B&amp;C, and recommend the best result. This step is called "</a:t>
            </a:r>
            <a:r>
              <a:rPr lang="en-US" sz="2800" dirty="0">
                <a:solidFill>
                  <a:srgbClr val="FF0000"/>
                </a:solidFill>
                <a:ea typeface="等线" panose="02010600030101010101" charset="-122"/>
                <a:cs typeface="Calibri" panose="020F0502020204030204"/>
              </a:rPr>
              <a:t>bin refinement</a:t>
            </a:r>
            <a:r>
              <a:rPr lang="en-US" sz="2800" dirty="0">
                <a:ea typeface="等线" panose="02010600030101010101" charset="-122"/>
                <a:cs typeface="Calibri" panose="020F0502020204030204"/>
              </a:rPr>
              <a:t>".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9420" y="81280"/>
            <a:ext cx="1009269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4.2 - MetaWRAP: A Comprehensive Pipeline for Genome-Resolved Metagenomic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3825" y="81280"/>
            <a:ext cx="1214183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4.2 - MetaWRAP: A Comprehensive Pipeline for Genome-Resolved Metagenomic Analysis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BA12A9-D88E-63E7-31BC-180E58F644C1}"/>
              </a:ext>
            </a:extLst>
          </p:cNvPr>
          <p:cNvGrpSpPr/>
          <p:nvPr/>
        </p:nvGrpSpPr>
        <p:grpSpPr>
          <a:xfrm>
            <a:off x="512618" y="1303479"/>
            <a:ext cx="10997655" cy="4804244"/>
            <a:chOff x="512618" y="1303479"/>
            <a:chExt cx="10997655" cy="4804244"/>
          </a:xfrm>
        </p:grpSpPr>
        <p:pic>
          <p:nvPicPr>
            <p:cNvPr id="7" name="Picture 6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C3F067A6-DA69-9814-1C51-F8A6BB7A6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618" y="1303479"/>
              <a:ext cx="10997655" cy="480424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0FF4D0-0F34-3D8E-7F99-759E6CDBE063}"/>
                </a:ext>
              </a:extLst>
            </p:cNvPr>
            <p:cNvSpPr/>
            <p:nvPr/>
          </p:nvSpPr>
          <p:spPr>
            <a:xfrm>
              <a:off x="512618" y="4501662"/>
              <a:ext cx="10997655" cy="86750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图表, 折线图&#10;&#10;已自动生成说明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rcRect b="1161"/>
          <a:stretch>
            <a:fillRect/>
          </a:stretch>
        </p:blipFill>
        <p:spPr>
          <a:xfrm>
            <a:off x="1087120" y="672465"/>
            <a:ext cx="9441180" cy="4735830"/>
          </a:xfrm>
        </p:spPr>
      </p:pic>
      <p:sp>
        <p:nvSpPr>
          <p:cNvPr id="5" name="文本框 4"/>
          <p:cNvSpPr txBox="1"/>
          <p:nvPr/>
        </p:nvSpPr>
        <p:spPr>
          <a:xfrm>
            <a:off x="-1045" y="5408505"/>
            <a:ext cx="1236112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Arial" panose="020B0604020202020204"/>
              <a:buChar char="•"/>
            </a:pPr>
            <a:r>
              <a:rPr lang="en-US" altLang="zh-CN" sz="2800">
                <a:ea typeface="等线" panose="02010600030101010101" charset="-122"/>
                <a:cs typeface="Arial" panose="020B0604020202020204"/>
              </a:rPr>
              <a:t>You will find this figure in </a:t>
            </a:r>
            <a:r>
              <a:rPr lang="en-US" altLang="zh-CN" sz="2800" err="1">
                <a:ea typeface="等线" panose="02010600030101010101" charset="-122"/>
                <a:cs typeface="Arial" panose="020B0604020202020204"/>
              </a:rPr>
              <a:t>theresult</a:t>
            </a:r>
            <a:r>
              <a:rPr lang="en-US" altLang="zh-CN" sz="2800">
                <a:ea typeface="等线" panose="02010600030101010101" charset="-122"/>
                <a:cs typeface="Arial" panose="020B0604020202020204"/>
              </a:rPr>
              <a:t> folder.</a:t>
            </a:r>
          </a:p>
          <a:p>
            <a:pPr marL="457200" indent="-457200">
              <a:buFont typeface="Arial" panose="020B0604020202020204"/>
              <a:buChar char="•"/>
            </a:pPr>
            <a:r>
              <a:rPr lang="en-US" sz="2800">
                <a:ea typeface="+mn-lt"/>
                <a:cs typeface="+mn-lt"/>
              </a:rPr>
              <a:t>Results are in </a:t>
            </a:r>
            <a:r>
              <a:rPr lang="en-US" sz="2800" err="1">
                <a:ea typeface="+mn-lt"/>
                <a:cs typeface="+mn-lt"/>
              </a:rPr>
              <a:t>BIN_REFINEMENT_megahit</a:t>
            </a:r>
            <a:r>
              <a:rPr lang="en-US" sz="2800">
                <a:ea typeface="+mn-lt"/>
                <a:cs typeface="+mn-lt"/>
              </a:rPr>
              <a:t>/metawrap_70_10_bins/*.fa, each is a MAG.</a:t>
            </a:r>
            <a:endParaRPr lang="en-US" altLang="zh-CN" sz="2800">
              <a:ea typeface="等线" panose="02010600030101010101" charset="-122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125" y="186690"/>
            <a:ext cx="121367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/>
              <a:t>4.3 - Bin Quality Assessment: Completion and Contamination Rankings for MAGs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等线 Light" panose="02010600030101010101" charset="-122"/>
                <a:cs typeface="Calibri Light" panose="020F0302020204030204"/>
              </a:rPr>
              <a:t>Part</a:t>
            </a:r>
            <a:r>
              <a:rPr lang="zh-CN" altLang="en-US" dirty="0">
                <a:ea typeface="等线 Light" panose="02010600030101010101" charset="-122"/>
                <a:cs typeface="Calibri Light" panose="020F0302020204030204"/>
              </a:rPr>
              <a:t> </a:t>
            </a:r>
            <a:r>
              <a:rPr lang="en-US" altLang="zh-CN" dirty="0">
                <a:ea typeface="等线 Light" panose="02010600030101010101" charset="-122"/>
                <a:cs typeface="Calibri Light" panose="020F0302020204030204"/>
              </a:rPr>
              <a:t>V</a:t>
            </a:r>
            <a:br>
              <a:rPr lang="en-US" altLang="zh-CN" dirty="0"/>
            </a:br>
            <a:r>
              <a:rPr lang="en-US" altLang="zh-CN" dirty="0"/>
              <a:t>Bin</a:t>
            </a:r>
            <a:r>
              <a:rPr lang="zh-CN" altLang="en-US" dirty="0"/>
              <a:t> </a:t>
            </a:r>
            <a:r>
              <a:rPr lang="en-US" altLang="zh-CN" dirty="0">
                <a:ea typeface="等线 Light" panose="02010600030101010101" charset="-122"/>
                <a:cs typeface="Calibri Light" panose="020F0302020204030204"/>
              </a:rPr>
              <a:t>quality check with CheckM2</a:t>
            </a:r>
            <a:br>
              <a:rPr lang="en-US" altLang="zh-CN" dirty="0">
                <a:ea typeface="等线 Light" panose="02010600030101010101" charset="-122"/>
                <a:cs typeface="Calibri Light" panose="020F0302020204030204"/>
              </a:rPr>
            </a:br>
            <a:r>
              <a:rPr lang="en-US" altLang="zh-CN" dirty="0">
                <a:ea typeface="等线 Light" panose="02010600030101010101" charset="-122"/>
                <a:cs typeface="Calibri Light" panose="020F0302020204030204"/>
              </a:rPr>
              <a:t>(~ 30mins)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0385" y="1310005"/>
            <a:ext cx="11196320" cy="378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等线" panose="02010600030101010101" charset="-122"/>
                <a:cs typeface="Calibri" panose="020F0502020204030204"/>
              </a:rPr>
              <a:t>The output of </a:t>
            </a:r>
            <a:r>
              <a:rPr lang="en-US" altLang="zh-CN" sz="2400" dirty="0" err="1">
                <a:ea typeface="等线" panose="02010600030101010101" charset="-122"/>
                <a:cs typeface="Calibri" panose="020F0502020204030204"/>
              </a:rPr>
              <a:t>bin_refinement</a:t>
            </a:r>
            <a:r>
              <a:rPr lang="en-US" altLang="zh-CN" sz="2400" dirty="0">
                <a:ea typeface="等线" panose="02010600030101010101" charset="-122"/>
                <a:cs typeface="Calibri" panose="020F0502020204030204"/>
              </a:rPr>
              <a:t> are: </a:t>
            </a:r>
            <a:r>
              <a:rPr lang="en-US" sz="2400" dirty="0" err="1">
                <a:solidFill>
                  <a:srgbClr val="FF0000"/>
                </a:solidFill>
                <a:ea typeface="+mn-lt"/>
                <a:cs typeface="+mn-lt"/>
              </a:rPr>
              <a:t>BIN_REFINEMENT_megahit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/metawrap_70_10_bins/*.fa.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Those </a:t>
            </a:r>
            <a:r>
              <a:rPr lang="en-US" sz="2400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fa files 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are the </a:t>
            </a:r>
            <a:r>
              <a:rPr lang="en-US" sz="2400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MAGs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 we need. Next we‘ll </a:t>
            </a:r>
            <a:r>
              <a:rPr lang="en-US" sz="2400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check the quality 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and </a:t>
            </a:r>
            <a:r>
              <a:rPr lang="en-US" sz="2400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contamination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(for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example,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if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it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contains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wrong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reads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from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other</a:t>
            </a:r>
            <a:r>
              <a:rPr lang="zh-CN" altLang="en-US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bacteria)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 of th</a:t>
            </a:r>
            <a:r>
              <a:rPr lang="en-US" altLang="zh-CN" sz="2400" dirty="0">
                <a:ea typeface="Calibri" panose="020F0502020204030204"/>
                <a:cs typeface="Calibri" panose="020F0502020204030204"/>
              </a:rPr>
              <a:t>os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e MAGs.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lang="en-US" sz="2400" dirty="0" err="1">
                <a:ea typeface="Calibri" panose="020F0502020204030204"/>
                <a:cs typeface="Calibri" panose="020F0502020204030204"/>
              </a:rPr>
              <a:t>MetaWRAP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 includes the program </a:t>
            </a:r>
            <a:r>
              <a:rPr lang="en-US" sz="2400" dirty="0" err="1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CheckM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 (default is 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completeness &gt;70.0%, contamination &lt;10.0%</a:t>
            </a:r>
            <a:r>
              <a:rPr lang="en-US" sz="2400" dirty="0">
                <a:ea typeface="+mn-lt"/>
                <a:cs typeface="+mn-lt"/>
              </a:rPr>
              <a:t>, that‘s the output folder name</a:t>
            </a:r>
            <a:r>
              <a:rPr lang="en-US" altLang="zh-CN" sz="2400" dirty="0">
                <a:ea typeface="+mn-lt"/>
                <a:cs typeface="+mn-lt"/>
              </a:rPr>
              <a:t>,</a:t>
            </a:r>
            <a:r>
              <a:rPr lang="zh-CN" altLang="en-US" sz="2400" dirty="0"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metawrap_70_10_bins</a:t>
            </a:r>
            <a:r>
              <a:rPr lang="en-US" sz="2400" dirty="0">
                <a:ea typeface="+mn-lt"/>
                <a:cs typeface="+mn-lt"/>
              </a:rPr>
              <a:t>).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0385" y="315595"/>
            <a:ext cx="9379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5.1 - Assessing MAG Quality with CheckM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4290" y="77899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 err="1">
                <a:ea typeface="等线" panose="02010600030101010101" charset="-122"/>
                <a:cs typeface="Calibri" panose="020F0502020204030204"/>
              </a:rPr>
              <a:t>CheckM</a:t>
            </a:r>
            <a:r>
              <a:rPr lang="en-US" altLang="zh-CN" sz="2800" dirty="0">
                <a:ea typeface="等线" panose="02010600030101010101" charset="-122"/>
                <a:cs typeface="Calibri" panose="020F0502020204030204"/>
              </a:rPr>
              <a:t> was updated to CheckM2</a:t>
            </a:r>
            <a:endParaRPr lang="zh-CN" altLang="en-US" dirty="0"/>
          </a:p>
        </p:txBody>
      </p:sp>
      <p:pic>
        <p:nvPicPr>
          <p:cNvPr id="3" name="图片 2" descr="图形用户界面, 文本, 应用程序&#10;&#10;已自动生成说明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437" y="4170272"/>
            <a:ext cx="7847161" cy="2528738"/>
          </a:xfrm>
          <a:prstGeom prst="rect">
            <a:avLst/>
          </a:prstGeom>
        </p:spPr>
      </p:pic>
      <p:pic>
        <p:nvPicPr>
          <p:cNvPr id="4" name="图片 3" descr="图形用户界面, 文本, 应用程序, 电子邮件&#10;&#10;已自动生成说明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8070" y="1388478"/>
            <a:ext cx="7042030" cy="2694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2260" y="116205"/>
            <a:ext cx="9379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5.1 - Assessing MAG Quality with CheckM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2260" y="718393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等线" panose="02010600030101010101" charset="-122"/>
                <a:cs typeface="Calibri" panose="020F0502020204030204"/>
              </a:rPr>
              <a:t>So we'll run the new version CheckM2 to check the quality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53" y="6193557"/>
            <a:ext cx="6259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chklovski</a:t>
            </a:r>
            <a:r>
              <a:rPr lang="en-US" dirty="0"/>
              <a:t>/CheckM2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2260" y="116205"/>
            <a:ext cx="9379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5.1 - Assessing MAG Quality with CheckM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83E9B0-4E97-F796-1430-A8087915E021}"/>
              </a:ext>
            </a:extLst>
          </p:cNvPr>
          <p:cNvGrpSpPr/>
          <p:nvPr/>
        </p:nvGrpSpPr>
        <p:grpSpPr>
          <a:xfrm>
            <a:off x="614821" y="1665868"/>
            <a:ext cx="10962357" cy="3985846"/>
            <a:chOff x="614821" y="1683912"/>
            <a:chExt cx="10962357" cy="3673534"/>
          </a:xfrm>
        </p:grpSpPr>
        <p:pic>
          <p:nvPicPr>
            <p:cNvPr id="3" name="Picture 2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2AD01ACC-28EF-B0DF-6107-E00DDF649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821" y="1683912"/>
              <a:ext cx="10962357" cy="367353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1BA255-29D8-A0F5-4DF7-EB8853773FCA}"/>
                </a:ext>
              </a:extLst>
            </p:cNvPr>
            <p:cNvSpPr/>
            <p:nvPr/>
          </p:nvSpPr>
          <p:spPr>
            <a:xfrm>
              <a:off x="2907323" y="5017477"/>
              <a:ext cx="5908431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1192" y="2363950"/>
            <a:ext cx="1085203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In your report, you should report the whole table of this result.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In the MIMAG paper (see links below), they recommend "</a:t>
            </a:r>
            <a:r>
              <a:rPr 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more than 90% complete and have less than 5% contamination</a:t>
            </a:r>
            <a:r>
              <a:rPr lang="en-US" sz="2800" dirty="0">
                <a:ea typeface="等线" panose="02010600030101010101" charset="-122"/>
                <a:cs typeface="Arial" panose="020B0604020202020204"/>
              </a:rPr>
              <a:t>" as the high-quality MAGs. </a:t>
            </a:r>
            <a:r>
              <a:rPr 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Report which are the </a:t>
            </a:r>
            <a:r>
              <a:rPr lang="en-US" sz="2800" dirty="0">
                <a:solidFill>
                  <a:srgbClr val="FF0000"/>
                </a:solidFill>
                <a:ea typeface="+mn-lt"/>
                <a:cs typeface="+mn-lt"/>
              </a:rPr>
              <a:t>high-quality MAGs.</a:t>
            </a:r>
            <a:endParaRPr lang="en-US" altLang="zh-CN" sz="2800" dirty="0">
              <a:solidFill>
                <a:srgbClr val="FF0000"/>
              </a:solidFill>
              <a:ea typeface="等线" panose="02010600030101010101" charset="-122"/>
              <a:cs typeface="Arial" panose="020B06040202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1193" y="6289099"/>
            <a:ext cx="37739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1400" dirty="0"/>
              <a:t>https://</a:t>
            </a:r>
            <a:r>
              <a:rPr lang="en-US" altLang="zh-CN" sz="1400" dirty="0" err="1"/>
              <a:t>www.nature.com</a:t>
            </a:r>
            <a:r>
              <a:rPr lang="en-US" altLang="zh-CN" sz="1400" dirty="0"/>
              <a:t>/articles/nbt.3893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822" y="4282603"/>
            <a:ext cx="5105400" cy="240496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2260" y="-635"/>
            <a:ext cx="9379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5.1 - Assessing MAG Quality with CheckM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A42107-936B-D229-BFAA-743D17EEC338}"/>
              </a:ext>
            </a:extLst>
          </p:cNvPr>
          <p:cNvGrpSpPr/>
          <p:nvPr/>
        </p:nvGrpSpPr>
        <p:grpSpPr>
          <a:xfrm>
            <a:off x="667330" y="774294"/>
            <a:ext cx="10339754" cy="1398292"/>
            <a:chOff x="667330" y="774294"/>
            <a:chExt cx="10339754" cy="1398292"/>
          </a:xfrm>
        </p:grpSpPr>
        <p:pic>
          <p:nvPicPr>
            <p:cNvPr id="5" name="Picture 4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797D3CE3-28ED-A3B9-B78B-43FF3400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330" y="774294"/>
              <a:ext cx="10339754" cy="13982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C35F92-6A3C-D4D3-CB27-F054402D3893}"/>
                </a:ext>
              </a:extLst>
            </p:cNvPr>
            <p:cNvSpPr/>
            <p:nvPr/>
          </p:nvSpPr>
          <p:spPr>
            <a:xfrm>
              <a:off x="1371600" y="961292"/>
              <a:ext cx="1113692" cy="1992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9E2E94-413C-D6DB-6A04-161CF58E2BD8}"/>
                </a:ext>
              </a:extLst>
            </p:cNvPr>
            <p:cNvSpPr/>
            <p:nvPr/>
          </p:nvSpPr>
          <p:spPr>
            <a:xfrm>
              <a:off x="2743199" y="961291"/>
              <a:ext cx="1207477" cy="1992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6415B6-B23B-38EC-56E7-BAA1BE3F83CF}"/>
                </a:ext>
              </a:extLst>
            </p:cNvPr>
            <p:cNvSpPr/>
            <p:nvPr/>
          </p:nvSpPr>
          <p:spPr>
            <a:xfrm>
              <a:off x="1348154" y="1302086"/>
              <a:ext cx="515815" cy="8470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F7DC83A-ED24-45AA-1212-A63E89262F50}"/>
                </a:ext>
              </a:extLst>
            </p:cNvPr>
            <p:cNvSpPr/>
            <p:nvPr/>
          </p:nvSpPr>
          <p:spPr>
            <a:xfrm>
              <a:off x="1993809" y="1302086"/>
              <a:ext cx="515815" cy="8470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ea typeface="等线 Light" panose="02010600030101010101" charset="-122"/>
                <a:cs typeface="Calibri Light" panose="020F0302020204030204"/>
              </a:rPr>
              <a:t>Part</a:t>
            </a:r>
            <a:r>
              <a:rPr lang="zh-CN" altLang="en-US">
                <a:ea typeface="等线 Light" panose="02010600030101010101" charset="-122"/>
                <a:cs typeface="Calibri Light" panose="020F0302020204030204"/>
              </a:rPr>
              <a:t> VI</a:t>
            </a:r>
            <a:br>
              <a:rPr lang="en-US" altLang="zh-CN"/>
            </a:br>
            <a:r>
              <a:rPr lang="zh-CN" altLang="en-US">
                <a:ea typeface="等线 Light" panose="02010600030101010101" charset="-122"/>
                <a:cs typeface="Calibri Light" panose="020F0302020204030204"/>
              </a:rPr>
              <a:t>Taxonomy annotation</a:t>
            </a:r>
            <a:br>
              <a:rPr lang="en-US" altLang="zh-CN">
                <a:ea typeface="等线 Light" panose="02010600030101010101" charset="-122"/>
                <a:cs typeface="Calibri Light" panose="020F0302020204030204"/>
              </a:rPr>
            </a:br>
            <a:r>
              <a:rPr lang="en-US" altLang="zh-CN">
                <a:ea typeface="等线 Light" panose="02010600030101010101" charset="-122"/>
                <a:cs typeface="Calibri Light" panose="020F0302020204030204"/>
              </a:rPr>
              <a:t>(~ 1-2hrs)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1192" y="1015353"/>
            <a:ext cx="11421436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Answer the question: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what taxonomic groups do my MAGs belong to?</a:t>
            </a:r>
            <a:endParaRPr lang="zh-CN" altLang="en-US" dirty="0">
              <a:solidFill>
                <a:srgbClr val="FF0000"/>
              </a:solidFill>
              <a:ea typeface="等线" panose="02010600030101010101" charset="-122"/>
              <a:cs typeface="Calibri" panose="020F0502020204030204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We'll use the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bins( MAGs)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to do the taxonomy annotation by "</a:t>
            </a:r>
            <a:r>
              <a:rPr lang="en-US" altLang="zh-CN" sz="2800" dirty="0" err="1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GTDBtk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".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GTDB(Genome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Taxonomy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Database)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is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a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very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famous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database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for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taxonomy,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and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the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tool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GTDBtk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is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to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do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the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tax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annotation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based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on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that.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0462" y="4123896"/>
            <a:ext cx="5678422" cy="19121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84" y="4063045"/>
            <a:ext cx="5045579" cy="203382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2115" y="209550"/>
            <a:ext cx="11026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6.1 - Taxonomic Annotation of MAGs Using GTDB and GTDB-Tk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8785" y="35735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0557" y="583553"/>
            <a:ext cx="1142143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Here we use all the MAGs (70% comp, 10 </a:t>
            </a:r>
            <a:r>
              <a:rPr lang="en-US" altLang="zh-CN" sz="2800" dirty="0" err="1">
                <a:ea typeface="等线" panose="02010600030101010101" charset="-122"/>
                <a:cs typeface="Arial" panose="020B0604020202020204"/>
              </a:rPr>
              <a:t>cont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),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but in real project, people often only do it for high quality MAGs.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115" y="209550"/>
            <a:ext cx="11026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6.1 - Taxonomic Annotation of MAGs Using GTDB and GTDB-Tk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261A65-E28A-9DF5-A2C5-CD625FF94BB7}"/>
              </a:ext>
            </a:extLst>
          </p:cNvPr>
          <p:cNvGrpSpPr/>
          <p:nvPr/>
        </p:nvGrpSpPr>
        <p:grpSpPr>
          <a:xfrm>
            <a:off x="651440" y="2229207"/>
            <a:ext cx="10939669" cy="3890239"/>
            <a:chOff x="651440" y="2229207"/>
            <a:chExt cx="10939669" cy="3890239"/>
          </a:xfrm>
        </p:grpSpPr>
        <p:pic>
          <p:nvPicPr>
            <p:cNvPr id="7" name="Picture 6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A73AF7FC-C57F-3455-78A0-B8CB9CE9B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440" y="2229207"/>
              <a:ext cx="10939669" cy="389023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EB2163-6621-CC1B-2936-FB0451E3DDBD}"/>
                </a:ext>
              </a:extLst>
            </p:cNvPr>
            <p:cNvSpPr/>
            <p:nvPr/>
          </p:nvSpPr>
          <p:spPr>
            <a:xfrm>
              <a:off x="3235569" y="5720862"/>
              <a:ext cx="4947139" cy="35169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12115" y="5694343"/>
            <a:ext cx="1051392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Create a table to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report this result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.</a:t>
            </a:r>
          </a:p>
          <a:p>
            <a:pPr marL="285750" indent="-285750"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For each bin,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check the details of taxonomy and report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115" y="209550"/>
            <a:ext cx="11026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/>
              <a:t>6.1 - Taxonomic Annotation of MAGs Using GTDB and GTDB-Tk</a:t>
            </a:r>
          </a:p>
        </p:txBody>
      </p:sp>
      <p:pic>
        <p:nvPicPr>
          <p:cNvPr id="7" name="Picture 6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AE3FA49-BF10-E54B-00B4-4F3AA784E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5" y="2039814"/>
            <a:ext cx="11554663" cy="3552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2E08A0-0E87-D2D4-D211-0891CD289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5" y="949520"/>
            <a:ext cx="9177362" cy="8323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ea typeface="等线 Light" panose="02010600030101010101" charset="-122"/>
                <a:cs typeface="Calibri Light" panose="020F0302020204030204"/>
              </a:rPr>
              <a:t>Part</a:t>
            </a:r>
            <a:r>
              <a:rPr lang="zh-CN" altLang="en-US">
                <a:ea typeface="等线 Light" panose="02010600030101010101" charset="-122"/>
                <a:cs typeface="Calibri Light" panose="020F0302020204030204"/>
              </a:rPr>
              <a:t> VII</a:t>
            </a:r>
            <a:br>
              <a:rPr lang="en-US" altLang="zh-CN"/>
            </a:br>
            <a:r>
              <a:rPr lang="zh-CN" altLang="en-US">
                <a:ea typeface="等线 Light" panose="02010600030101010101" charset="-122"/>
                <a:cs typeface="Calibri Light" panose="020F0302020204030204"/>
              </a:rPr>
              <a:t>Gene prediction and functional annotation</a:t>
            </a:r>
            <a:br>
              <a:rPr lang="zh-CN" altLang="en-US">
                <a:ea typeface="等线 Light" panose="02010600030101010101" charset="-122"/>
                <a:cs typeface="Calibri Light" panose="020F0302020204030204"/>
              </a:rPr>
            </a:br>
            <a:r>
              <a:rPr lang="en-US" altLang="zh-CN">
                <a:ea typeface="等线 Light" panose="02010600030101010101" charset="-122"/>
                <a:cs typeface="Calibri Light" panose="020F0302020204030204"/>
              </a:rPr>
              <a:t>(~ 8hrs)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8785" y="35735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4647" y="880685"/>
            <a:ext cx="11421436" cy="39693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800" dirty="0">
                <a:latin typeface="Arial" panose="020B0604020202020204"/>
                <a:ea typeface="等线" panose="02010600030101010101" charset="-122"/>
                <a:cs typeface="Arial" panose="020B0604020202020204"/>
              </a:rPr>
              <a:t>Answer the question: </a:t>
            </a:r>
            <a:r>
              <a:rPr lang="en-US" sz="2800" dirty="0">
                <a:solidFill>
                  <a:srgbClr val="FF0000"/>
                </a:solidFill>
                <a:latin typeface="Arial" panose="020B0604020202020204"/>
                <a:ea typeface="等线" panose="02010600030101010101" charset="-122"/>
                <a:cs typeface="Arial" panose="020B0604020202020204"/>
              </a:rPr>
              <a:t>what functional genes do my MAGs encode</a:t>
            </a:r>
            <a:r>
              <a:rPr lang="en-US" sz="2800" dirty="0">
                <a:latin typeface="Arial" panose="020B0604020202020204"/>
                <a:ea typeface="等线" panose="02010600030101010101" charset="-122"/>
                <a:cs typeface="Arial" panose="020B0604020202020204"/>
              </a:rPr>
              <a:t>?</a:t>
            </a:r>
          </a:p>
          <a:p>
            <a:endParaRPr lang="zh-CN" altLang="en-US" sz="2800" dirty="0">
              <a:latin typeface="Arial" panose="020B0604020202020204"/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First we need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predict proteins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by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genes from MAGs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solidFill>
                <a:srgbClr val="FF0000"/>
              </a:solidFill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Called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gene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prediction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Then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annotate the function of each protein</a:t>
            </a: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Called</a:t>
            </a:r>
            <a:r>
              <a:rPr lang="zh-CN" altLang="en-US" sz="2800" dirty="0"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gene</a:t>
            </a:r>
            <a:r>
              <a:rPr lang="zh-CN" altLang="en-US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annotation</a:t>
            </a: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8785" y="35735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282" y="165675"/>
            <a:ext cx="1142143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We'll use "DRAM", which does both.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DRAM integrates different tools for both steps including 7 different databases (including </a:t>
            </a:r>
            <a:r>
              <a:rPr lang="en-US" altLang="zh-CN" sz="2800" dirty="0" err="1">
                <a:ea typeface="等线" panose="02010600030101010101" charset="-122"/>
                <a:cs typeface="Arial" panose="020B0604020202020204"/>
              </a:rPr>
              <a:t>dbCAN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) for functional annotation (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focus on metabolic enzymes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).</a:t>
            </a:r>
          </a:p>
        </p:txBody>
      </p:sp>
      <p:pic>
        <p:nvPicPr>
          <p:cNvPr id="3" name="图片 2" descr="日程表&#10;&#10;已自动生成说明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85" y="2173233"/>
            <a:ext cx="4672820" cy="31665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7035" y="6131317"/>
            <a:ext cx="58163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dirty="0">
                <a:hlinkClick r:id="rId4"/>
              </a:rPr>
              <a:t>https://www.ncbi.nlm.nih.gov/pmc/articles/PMC7498326/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https://github.com/WrightonLabCSU/DRAM/wiki</a:t>
            </a:r>
            <a:endParaRPr lang="en-US" altLang="zh-CN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571740" y="1550670"/>
            <a:ext cx="3348355" cy="51155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8785" y="35735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ea typeface="等线" panose="02010600030101010101" charset="-122"/>
              <a:cs typeface="Calibri" panose="020F050202020403020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FFAF38-457B-A0BE-53EA-D0482F4D7DCC}"/>
              </a:ext>
            </a:extLst>
          </p:cNvPr>
          <p:cNvGrpSpPr/>
          <p:nvPr/>
        </p:nvGrpSpPr>
        <p:grpSpPr>
          <a:xfrm>
            <a:off x="533933" y="1262936"/>
            <a:ext cx="10954682" cy="4332127"/>
            <a:chOff x="545656" y="1262936"/>
            <a:chExt cx="10954682" cy="4332127"/>
          </a:xfrm>
        </p:grpSpPr>
        <p:pic>
          <p:nvPicPr>
            <p:cNvPr id="4" name="Picture 3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EB65AB81-BBEE-573A-EBC8-84F74547F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656" y="1262936"/>
              <a:ext cx="10954682" cy="433212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E0CA9D-EEBF-BD19-A8E9-89768050631B}"/>
                </a:ext>
              </a:extLst>
            </p:cNvPr>
            <p:cNvSpPr/>
            <p:nvPr/>
          </p:nvSpPr>
          <p:spPr>
            <a:xfrm>
              <a:off x="2309446" y="4947139"/>
              <a:ext cx="5931877" cy="3634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8785" y="35735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1192" y="353683"/>
            <a:ext cx="1142143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You would get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two heatmaps 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for metabolism.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Report and explain the results(html file)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combined with your taxonomy annotation for each MAG.</a:t>
            </a:r>
          </a:p>
        </p:txBody>
      </p:sp>
      <p:pic>
        <p:nvPicPr>
          <p:cNvPr id="10" name="Picture 9" descr="A chart of data on a white background&#10;&#10;AI-generated content may be incorrect.">
            <a:extLst>
              <a:ext uri="{FF2B5EF4-FFF2-40B4-BE49-F238E27FC236}">
                <a16:creationId xmlns:a16="http://schemas.microsoft.com/office/drawing/2014/main" id="{7EB61FEC-5283-8FEE-E01F-DED5C134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72" y="1738678"/>
            <a:ext cx="5551083" cy="4957571"/>
          </a:xfrm>
          <a:prstGeom prst="rect">
            <a:avLst/>
          </a:prstGeom>
        </p:spPr>
      </p:pic>
      <p:pic>
        <p:nvPicPr>
          <p:cNvPr id="12" name="Picture 11" descr="A group of green and white rectangular objects&#10;&#10;AI-generated content may be incorrect.">
            <a:extLst>
              <a:ext uri="{FF2B5EF4-FFF2-40B4-BE49-F238E27FC236}">
                <a16:creationId xmlns:a16="http://schemas.microsoft.com/office/drawing/2014/main" id="{1249883D-BA1A-FADD-5908-A02A97D87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118"/>
          <a:stretch>
            <a:fillRect/>
          </a:stretch>
        </p:blipFill>
        <p:spPr>
          <a:xfrm>
            <a:off x="6281547" y="1569796"/>
            <a:ext cx="5343699" cy="484272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8785" y="357351"/>
            <a:ext cx="1164546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73191" y="202642"/>
            <a:ext cx="32372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sz="4800" b="1">
                <a:latin typeface="Arial" panose="020B0604020202020204"/>
                <a:ea typeface="等线" panose="02010600030101010101" charset="-122"/>
              </a:rPr>
              <a:t>Summary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444687" y="1249660"/>
            <a:ext cx="114214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We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reconstructed MAGs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 based on raw reads.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For each part you need a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result figure and table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 (if has).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Report the </a:t>
            </a:r>
            <a:r>
              <a:rPr lang="en-US" altLang="zh-CN" sz="2800" dirty="0">
                <a:solidFill>
                  <a:srgbClr val="FF0000"/>
                </a:solidFill>
                <a:ea typeface="等线" panose="02010600030101010101" charset="-122"/>
                <a:cs typeface="Arial" panose="020B0604020202020204"/>
              </a:rPr>
              <a:t>questions and discussion</a:t>
            </a:r>
            <a:r>
              <a:rPr lang="en-US" altLang="zh-CN" sz="2800" dirty="0">
                <a:ea typeface="等线" panose="02010600030101010101" charset="-122"/>
                <a:cs typeface="Arial" panose="020B0604020202020204"/>
              </a:rPr>
              <a:t> we mentioned in the slides.</a:t>
            </a:r>
          </a:p>
          <a:p>
            <a:pPr marL="285750" indent="-285750">
              <a:buFont typeface="Arial" panose="020B0604020202020204"/>
              <a:buChar char="•"/>
            </a:pPr>
            <a:endParaRPr lang="en-US" altLang="zh-CN" sz="2800" dirty="0">
              <a:ea typeface="等线" panose="02010600030101010101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Any questions?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713de670-6964-4c38-9802-c5f91fa27cb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4297ea1-89f9-4a38-ac56-ed2d30d5cc5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f4f8a9bc-389c-4ce9-a076-3c09cbf7366b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1888a2a2-57e6-4029-b5e9-7c6393234c2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d9594ee1-5f78-4f0e-aca8-e2ca34ab0a4b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6faa98e8-2b1d-4d2c-8403-5c0c590cb31f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d5b2e3ac-6408-4029-a285-24d10d7bc3c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49d5bc1b-ab52-4eff-a81b-107e5de5bebd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2bcad81c-8ee2-4c24-97a9-367a42efc4aa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2bcad81c-8ee2-4c24-97a9-367a42efc4aa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7facb692-8c27-4a98-9dcd-18f632aef0f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b97e9f5-04fb-4e58-8339-6a4031c3c99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470df302-f79b-4575-9ec7-938b7b8e5f1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470df302-f79b-4575-9ec7-938b7b8e5f1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602e0860-1ce7-4a7b-96a4-ebc1415200a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69d33bcd-5cf7-44e4-86d6-d4bcb5fac55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4fc224a8-a934-45a3-9d49-db10725bdb7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65492f02-0c0e-40e9-bab8-4fea1fb81d5e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97aa5d9-9706-4fae-acb1-99b829c21c4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adb85861-0b58-4bc5-bf1f-176c6514e9b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cf099c68-c3cd-42d6-aa4e-b763a20376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f7dd0bd7-6b29-42e5-8533-94b2203d3e5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49ae1cb8-bde9-41a3-8753-74a13f07f62d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cf39feab-99c9-479e-90ac-7d590b49b8cd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1666</Words>
  <Application>Microsoft Macintosh PowerPoint</Application>
  <PresentationFormat>Widescreen</PresentationFormat>
  <Paragraphs>164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等线</vt:lpstr>
      <vt:lpstr>等线 Light</vt:lpstr>
      <vt:lpstr>Arial</vt:lpstr>
      <vt:lpstr>Arial,Sans-Serif</vt:lpstr>
      <vt:lpstr>Calibri</vt:lpstr>
      <vt:lpstr>Calibri Light</vt:lpstr>
      <vt:lpstr>Courier New</vt:lpstr>
      <vt:lpstr>Office Theme</vt:lpstr>
      <vt:lpstr>1_Office Theme</vt:lpstr>
      <vt:lpstr>Course Project 2: Microbiome data analysis of Zygnema green algae</vt:lpstr>
      <vt:lpstr>PowerPoint Presentation</vt:lpstr>
      <vt:lpstr>Part III Assembly  (~ 8hrs)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 Binning and bin refinement (~ 2.5hrs)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Bin quality check with CheckM2 (~ 30mins)</vt:lpstr>
      <vt:lpstr>PowerPoint Presentation</vt:lpstr>
      <vt:lpstr>PowerPoint Presentation</vt:lpstr>
      <vt:lpstr>PowerPoint Presentation</vt:lpstr>
      <vt:lpstr>PowerPoint Presentation</vt:lpstr>
      <vt:lpstr>Part VI Taxonomy annotation (~ 1-2hrs)</vt:lpstr>
      <vt:lpstr>PowerPoint Presentation</vt:lpstr>
      <vt:lpstr>PowerPoint Presentation</vt:lpstr>
      <vt:lpstr>PowerPoint Presentation</vt:lpstr>
      <vt:lpstr>Part VII Gene prediction and functional annotation (~ 8hrs)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I Data preparation</dc:title>
  <dc:creator>Xinpeng Zhang</dc:creator>
  <cp:lastModifiedBy>Md Numan Islam</cp:lastModifiedBy>
  <cp:revision>40</cp:revision>
  <dcterms:created xsi:type="dcterms:W3CDTF">2023-10-02T21:25:00Z</dcterms:created>
  <dcterms:modified xsi:type="dcterms:W3CDTF">2025-11-18T19:55:35Z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80CC4F4408DD40318E47BBA4FA9261FB_13</vt:lpwstr>
  </property>
  <property fmtid="{D5CDD505-2E9C-101B-9397-08002B2CF9AE}" pid="3" name="KSOProductBuildVer">
    <vt:lpwstr>2052-12.1.0.18912</vt:lpwstr>
  </property>
</Properties>
</file>